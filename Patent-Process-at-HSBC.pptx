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walks through how a patent actually happens at HSBC — from the first idea through to a filed application. It is based on our own experience as inventors in this process.
Replace the bracketed fields on this slide with the presenter, team and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for the whole session: three steps, and only the middle one is really on you to drive. Steps 1 and 3 are lighter than people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people to look at their own work through this lens. The strongest candidates in our experience came from work already being done, not from a dedicated brainstorm.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people over-engineer. Stress that the document is for reviewers, not the patent office. Country and region selection is handled by HSBC's patent team after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portal live here and walk through the form (speaker: demo the web page now).
Only four fields are mandatory: title, problem summary, invention description and inventor emails. Everything else is optional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list comes from the submission form itself: proposal, PoC planned, PoC completed, pilot, in production, used in a commercialised product or service, and 'was in use, demised'.
All of them can be submitted. Maturity only affects how convincing the case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1 is the one you will actually experience: a friendly 30-minute call with the partner's IP lawyers, who coach you on how to frame the protection.
Round 2 changed in 2025 — reviewers now talk to inventors directly. We are new to this too, so expect to be asked questions you have not prepared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mostly responsiveness rather than work: answer emails, provide figures, and sign when asked.
The signed notice authorises our partner to file in HSBC's name. You stay listed as the inventor.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required of you here — it is simply useful to know that a single disclosure can become a family of filings.
Replace the bracketed URL with the patent search site you use (speaker: fill this in before presenting).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on timing: both rewards land at the end of the quarter in which the milestone happened, so there is a lag.
There have also been other, ad-hoc rewards — we will pass on details as we learn about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portal demo if there is time, and invite people to bring ideas to you directly. Replace the bracketed contact fields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43200" cy="68580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2331720"/>
            <a:ext cx="13716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2514600"/>
            <a:ext cx="8229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777240"/>
            <a:ext cx="384048" cy="38404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50" kern="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 ·  INVENTOR SESSION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Idea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Patent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worked for us — a practical guide from HSBC inventors.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5532120"/>
            <a:ext cx="1097280" cy="36576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760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  ·  [Team]  · 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Patent Journey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take an idea from your desk to a filed patent application.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9848" y="2560320"/>
            <a:ext cx="2615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DB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a Patent Idea</a:t>
            </a:r>
            <a:endParaRPr lang="en-US" sz="4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something worth protecting — and shape it into a clear, defensible idea.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165092" y="3525012"/>
            <a:ext cx="128016" cy="12801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214884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560320"/>
            <a:ext cx="2615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DB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for Expert Review</a:t>
            </a:r>
            <a:endParaRPr lang="en-US" sz="4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IP counsel reviews it first, then HSBC's internal technical review.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7868412" y="3525012"/>
            <a:ext cx="128016" cy="128016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Shape 9"/>
          <p:cNvSpPr/>
          <p:nvPr/>
        </p:nvSpPr>
        <p:spPr>
          <a:xfrm>
            <a:off x="8092440" y="214884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76488" y="2560320"/>
            <a:ext cx="2615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DB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Application</a:t>
            </a:r>
            <a:endParaRPr lang="en-US" sz="4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counsel through drafting, filing and electronic signature.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85800" y="5394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following pages unpack each step — and what is expected of you at each 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Patent Ideas Come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sources tend to produce the strongest candidates.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423160"/>
            <a:ext cx="777240" cy="777240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261747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 Your Work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4023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problem you solved in a new way — or one where no established solution exists in the industry.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423160"/>
            <a:ext cx="777240" cy="777240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261747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to HSBC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00600" y="4023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that protect HSBC's intellectual property, or that create commercial upside for the bank.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92440" y="196596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2423160"/>
            <a:ext cx="777240" cy="777240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230" y="261747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Technology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03920" y="4023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connected to emerging and cutting-edge technology.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85800" y="5577840"/>
            <a:ext cx="146304" cy="14630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22" name="Text 17"/>
          <p:cNvSpPr/>
          <p:nvPr/>
        </p:nvSpPr>
        <p:spPr>
          <a:xfrm>
            <a:off x="978408" y="5504688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submission can come from one person or from a team — both are accepted.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Idea to a Review-Ready Document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idea has taken shape, start writing it up.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350008"/>
            <a:ext cx="566928" cy="56692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49174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56232" y="23317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official filing template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56232" y="262432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need a document that fully matches national patent-office requirements.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97280" y="3310128"/>
            <a:ext cx="566928" cy="56692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345186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56232" y="329184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for our reviewers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56232" y="358444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goes to HSBC's internal and external experts — people who need to understand the idea you want protected.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097280" y="4270248"/>
            <a:ext cx="566928" cy="56692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441198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425196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inventor or a team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56232" y="45445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work. Gather the people involved, then draft — and build a PoC if it applies.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818120" y="196596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DB0011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18388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REAL TEST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183880" y="28803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reviewer clearly understand the idea you want protected?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18388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D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yes, the document is good enough to submit.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" y="5532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HSBC's patent team then decides which countries and regions to file 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Submit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are made by the inventors, through the HSBC portal.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BE6E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74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portal:  </a:t>
            </a:r>
            <a:pPr indent="0" marL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portal URL here]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FIELDS ARE REQUIRED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8408" y="3465576"/>
            <a:ext cx="429768" cy="42976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3573018"/>
            <a:ext cx="214884" cy="2148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3246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Title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324612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56248" y="3465576"/>
            <a:ext cx="429768" cy="42976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3573018"/>
            <a:ext cx="214884" cy="2148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3246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Summary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5800" y="438912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78408" y="4608576"/>
            <a:ext cx="429768" cy="42976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716018"/>
            <a:ext cx="214884" cy="2148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389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Invention Description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263640" y="438912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56248" y="4608576"/>
            <a:ext cx="429768" cy="42976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716018"/>
            <a:ext cx="214884" cy="2148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389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Inventors' Email Addresses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government-compliant document is still not required — a clear description of the idea is enough.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Any Stage of Maturity Is Eligible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file at any point — the more mature the work, the stronger the case.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FBE6E8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38144" y="210312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F5C9CD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94176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Planned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210312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EFA8AE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Completed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42832" y="210312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E8848C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98864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74904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E2616B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1832" y="3749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38144" y="374904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DB0011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94176" y="3749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a Commercialised Product or Service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0488" y="374904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3749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in Use, Demised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42832" y="3749040"/>
            <a:ext cx="2523744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143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98864" y="3749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mature the work, the easier it is to get through review.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532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demised solution can still be filed — protection does not depend on the work being live today.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Review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rounds of review stand between submission and the filing stage.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377440"/>
            <a:ext cx="146304" cy="14630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313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 ·  EXTERNAL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770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 IP Counsel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external partner's intellectual-property lawyers review your submission.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usually arrange a ~30-minute Zoom call with the inventors.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suggest angles that are more likely to win protection.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feed back to HSBC's patent team on whether to proceed.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0" y="2377440"/>
            <a:ext cx="146304" cy="14630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2313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 ·  INTERNAL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7706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Review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75120" y="338328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internal technical review decides whether the idea goes further.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2025 this step was opaque to inventors — you only heard back on success.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2025, reviewers speak directly with inventors to raise patent quality.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early in this process ourselves, so details are still limited.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669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 not hear back after the first round, the submission has most likely not progressed.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Supporting the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are through review, the filing is a joint effort.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87552" y="2286000"/>
            <a:ext cx="32004" cy="2706624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6712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 gets in touch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40680" y="20116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frequent contact from our external partner to confirm details of the filing.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94436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99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962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supply the extras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40680" y="294436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Diagrams, figures and supporting material, as and when they ask for them.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3877056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3250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895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draft and file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440680" y="387705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documents submitted to the national patent office are written by our partner, not by you.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85800" y="4809744"/>
            <a:ext cx="621792" cy="621792"/>
          </a:xfrm>
          <a:prstGeom prst="ellipse">
            <a:avLst/>
          </a:prstGeom>
          <a:solidFill>
            <a:srgbClr val="DB001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96519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828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sign electronically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40680" y="480974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application is filed and accepted, you receive a signing notice by email — an e-signature authorising the filing in HSBC's name.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filing is made in HSBC's name — you remain the named inventor.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the First Filing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can end up protected in several jurisdictions.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DB0011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BD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FILING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country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 region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86200" y="2651760"/>
            <a:ext cx="822960" cy="0"/>
          </a:xfrm>
          <a:prstGeom prst="line">
            <a:avLst/>
          </a:prstGeom>
          <a:noFill/>
          <a:ln w="19050">
            <a:solidFill>
              <a:srgbClr val="C9C9C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886200" y="3840480"/>
            <a:ext cx="822960" cy="0"/>
          </a:xfrm>
          <a:prstGeom prst="line">
            <a:avLst/>
          </a:prstGeom>
          <a:noFill/>
          <a:ln w="19050">
            <a:solidFill>
              <a:srgbClr val="C9C9C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754880" y="2148840"/>
            <a:ext cx="3246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/ Region 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148840"/>
            <a:ext cx="3246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9640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/ Region 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337560"/>
            <a:ext cx="3246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33375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/ Region 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3337560"/>
            <a:ext cx="3246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49640" y="33375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/ Region 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7091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in one place first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047488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patent usually starts in a single country or region.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70832" y="47091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later, elsewhere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70832" y="5047488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patent may subsequently be filed in other countries and regions.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55864" y="47091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not be told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55864" y="5047488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Inventors are not always notified of later filings — you can look them up yourself.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5870448"/>
            <a:ext cx="9692640" cy="566928"/>
          </a:xfrm>
          <a:prstGeom prst="roundRect">
            <a:avLst>
              <a:gd name="adj" fmla="val 9677"/>
            </a:avLst>
          </a:prstGeom>
          <a:solidFill>
            <a:srgbClr val="FBE6E8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870448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filings:  </a:t>
            </a:r>
            <a:pPr indent="0" marL="0">
              <a:buNone/>
            </a:pPr>
            <a:r>
              <a:rPr lang="en-US" sz="125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patent search URL]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201168" cy="20116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412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are tied to the milestones you actually reach.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3564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423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BE6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4754880" y="2514600"/>
            <a:ext cx="658368" cy="65836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267919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337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first call with our external partner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AOB points are issued at the end of that quarter.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21031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75120" y="2423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BE6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600" dirty="0"/>
          </a:p>
        </p:txBody>
      </p:sp>
      <p:sp>
        <p:nvSpPr>
          <p:cNvPr id="14" name="Shape 11"/>
          <p:cNvSpPr/>
          <p:nvPr/>
        </p:nvSpPr>
        <p:spPr>
          <a:xfrm>
            <a:off x="10332720" y="2514600"/>
            <a:ext cx="658368" cy="658368"/>
          </a:xfrm>
          <a:prstGeom prst="ellipse">
            <a:avLst/>
          </a:prstGeom>
          <a:solidFill>
            <a:srgbClr val="FBE6E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67919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75120" y="3337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application is filed with the patent office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7512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AOB points are issued at the end of that quarter.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" y="5257800"/>
            <a:ext cx="146304" cy="14630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9" name="Text 15"/>
          <p:cNvSpPr/>
          <p:nvPr/>
        </p:nvSpPr>
        <p:spPr>
          <a:xfrm>
            <a:off x="978408" y="5184648"/>
            <a:ext cx="10497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rewards come along the way — we will share them as we see them.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Quarter-end timing means there is a short delay between the milestone and the points landing.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148840"/>
            <a:ext cx="384048" cy="384048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743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demo the submission portal live — and to share what we learn as we go.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5120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  ·  [Email]  ·  [Team]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HSBC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Idea to Patent</dc:title>
  <dc:subject>How it worked for us - a practical guide from HSBC inventors</dc:subject>
  <dc:creator>HSBC</dc:creator>
  <cp:lastModifiedBy>HSBC</cp:lastModifiedBy>
  <cp:revision>1</cp:revision>
  <dcterms:created xsi:type="dcterms:W3CDTF">2026-09-13T14:40:25Z</dcterms:created>
  <dcterms:modified xsi:type="dcterms:W3CDTF">2026-09-13T14:40:25Z</dcterms:modified>
</cp:coreProperties>
</file>